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0"/>
              </a:spcAft>
            </a:pPr>
            <a:r>
              <a:rPr sz="3600" b="1">
                <a:solidFill>
                  <a:srgbClr val="0B2545"/>
                </a:solidFill>
                <a:latin typeface="Arial"/>
              </a:rPr>
              <a:t>APEXLOGIX SOLUTIONS</a:t>
            </a:r>
          </a:p>
          <a:p>
            <a:pPr algn="l"/>
            <a:r>
              <a:rPr sz="1800">
                <a:solidFill>
                  <a:srgbClr val="505050"/>
                </a:solidFill>
                <a:latin typeface="Arial"/>
              </a:rPr>
              <a:t>Q4 &amp; FY2025 Financial Performance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545"/>
                </a:solidFill>
                <a:latin typeface="Arial"/>
              </a:rPr>
              <a:t>Executive Summary: FY2025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C3C3C"/>
                </a:solidFill>
                <a:latin typeface="Arial"/>
              </a:defRPr>
            </a:pPr>
            <a:r>
              <a:t>• Record annual revenue of $7.25M across all business units.</a:t>
            </a:r>
          </a:p>
          <a:p>
            <a:pPr>
              <a:spcAft>
                <a:spcPts val="800"/>
              </a:spcAft>
              <a:defRPr sz="1500">
                <a:solidFill>
                  <a:srgbClr val="3C3C3C"/>
                </a:solidFill>
                <a:latin typeface="Arial"/>
              </a:defRPr>
            </a:pPr>
            <a:r>
              <a:t>• Software Subscriptions (SaaS) ARR grew 75% YoY, representing $2.1M in Q4.</a:t>
            </a:r>
          </a:p>
          <a:p>
            <a:pPr>
              <a:spcAft>
                <a:spcPts val="800"/>
              </a:spcAft>
              <a:defRPr sz="1500">
                <a:solidFill>
                  <a:srgbClr val="3C3C3C"/>
                </a:solidFill>
                <a:latin typeface="Arial"/>
              </a:defRPr>
            </a:pPr>
            <a:r>
              <a:t>• Gross margins improved to 71% in Q4, driven by software scale and robotics optimizations.</a:t>
            </a:r>
          </a:p>
          <a:p>
            <a:pPr>
              <a:spcAft>
                <a:spcPts val="800"/>
              </a:spcAft>
              <a:defRPr sz="1500">
                <a:solidFill>
                  <a:srgbClr val="3C3C3C"/>
                </a:solidFill>
                <a:latin typeface="Arial"/>
              </a:defRPr>
            </a:pPr>
            <a:r>
              <a:t>• CAPEX investment of $600K focused on robotics manufacturing equipment and logistics updates.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545"/>
                </a:solidFill>
                <a:latin typeface="Arial"/>
              </a:rPr>
              <a:t>2025 Quarterly Revenue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C3C3C"/>
                </a:solidFill>
                <a:latin typeface="Arial"/>
              </a:defRPr>
            </a:pPr>
            <a:r>
              <a:t>• Software SaaS is our primary growth engine, scaling from $1.2M in Q1 to $2.1M in Q4.</a:t>
            </a:r>
          </a:p>
          <a:p>
            <a:pPr>
              <a:spcAft>
                <a:spcPts val="800"/>
              </a:spcAft>
              <a:defRPr sz="1500">
                <a:solidFill>
                  <a:srgbClr val="3C3C3C"/>
                </a:solidFill>
                <a:latin typeface="Arial"/>
              </a:defRPr>
            </a:pPr>
            <a:r>
              <a:t>• Robotics Hardware revenue shows stable growth, pacing with customer deployment rollouts.</a:t>
            </a:r>
          </a:p>
          <a:p>
            <a:pPr>
              <a:spcAft>
                <a:spcPts val="800"/>
              </a:spcAft>
              <a:defRPr sz="1500">
                <a:solidFill>
                  <a:srgbClr val="3C3C3C"/>
                </a:solidFill>
                <a:latin typeface="Arial"/>
              </a:defRPr>
            </a:pPr>
            <a:r>
              <a:t>• Professional consulting services maintain a steady pipeline matching integration schedules.</a:t>
            </a:r>
          </a:p>
        </p:txBody>
      </p:sp>
      <p:pic>
        <p:nvPicPr>
          <p:cNvPr id="5" name="Picture 4" descr="finance_revenu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3040"/>
            <a:ext cx="4754880" cy="303209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545"/>
                </a:solidFill>
                <a:latin typeface="Arial"/>
              </a:rPr>
              <a:t>Key Financial Profitability Ratios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C3C3C"/>
                </a:solidFill>
                <a:latin typeface="Arial"/>
              </a:defRPr>
            </a:pPr>
            <a:r>
              <a:t>• Operational efficiencies in robotics parts sourcing led to margin expansion.</a:t>
            </a:r>
          </a:p>
          <a:p>
            <a:pPr>
              <a:spcAft>
                <a:spcPts val="800"/>
              </a:spcAft>
              <a:defRPr sz="1500">
                <a:solidFill>
                  <a:srgbClr val="3C3C3C"/>
                </a:solidFill>
                <a:latin typeface="Arial"/>
              </a:defRPr>
            </a:pPr>
            <a:r>
              <a:t>• Net Margins reached a record high of 18.5% in Q4.</a:t>
            </a:r>
          </a:p>
          <a:p>
            <a:pPr>
              <a:spcAft>
                <a:spcPts val="800"/>
              </a:spcAft>
              <a:defRPr sz="1500">
                <a:solidFill>
                  <a:srgbClr val="3C3C3C"/>
                </a:solidFill>
                <a:latin typeface="Arial"/>
              </a:defRPr>
            </a:pPr>
            <a:r>
              <a:t>• Expect stable 70%+ Gross Margins heading into FY2026.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463040"/>
          <a:ext cx="48463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9264"/>
                <a:gridCol w="969264"/>
                <a:gridCol w="969264"/>
                <a:gridCol w="969264"/>
                <a:gridCol w="969264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Arial"/>
                        </a:rPr>
                        <a:t>Ratio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Arial"/>
                        </a:rPr>
                        <a:t>Q1 2025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Arial"/>
                        </a:rPr>
                        <a:t>Q2 2025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Arial"/>
                        </a:rPr>
                        <a:t>Q3 2025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Arial"/>
                        </a:rPr>
                        <a:t>Q4 2025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C3C3C"/>
                          </a:solidFill>
                          <a:latin typeface="Arial"/>
                        </a:rPr>
                        <a:t>Gross Margin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C3C3C"/>
                          </a:solidFill>
                          <a:latin typeface="Arial"/>
                        </a:rPr>
                        <a:t>65.0%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C3C3C"/>
                          </a:solidFill>
                          <a:latin typeface="Arial"/>
                        </a:rPr>
                        <a:t>67.0%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C3C3C"/>
                          </a:solidFill>
                          <a:latin typeface="Arial"/>
                        </a:rPr>
                        <a:t>69.0%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C3C3C"/>
                          </a:solidFill>
                          <a:latin typeface="Arial"/>
                        </a:rPr>
                        <a:t>71.0%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C3C3C"/>
                          </a:solidFill>
                          <a:latin typeface="Arial"/>
                        </a:rPr>
                        <a:t>Operating Margin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C3C3C"/>
                          </a:solidFill>
                          <a:latin typeface="Arial"/>
                        </a:rPr>
                        <a:t>18.0%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C3C3C"/>
                          </a:solidFill>
                          <a:latin typeface="Arial"/>
                        </a:rPr>
                        <a:t>20.0%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C3C3C"/>
                          </a:solidFill>
                          <a:latin typeface="Arial"/>
                        </a:rPr>
                        <a:t>22.0%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C3C3C"/>
                          </a:solidFill>
                          <a:latin typeface="Arial"/>
                        </a:rPr>
                        <a:t>25.0%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C3C3C"/>
                          </a:solidFill>
                          <a:latin typeface="Arial"/>
                        </a:rPr>
                        <a:t>Net Margin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C3C3C"/>
                          </a:solidFill>
                          <a:latin typeface="Arial"/>
                        </a:rPr>
                        <a:t>12.0%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C3C3C"/>
                          </a:solidFill>
                          <a:latin typeface="Arial"/>
                        </a:rPr>
                        <a:t>14.2%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C3C3C"/>
                          </a:solidFill>
                          <a:latin typeface="Arial"/>
                        </a:rPr>
                        <a:t>15.0%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000">
                          <a:solidFill>
                            <a:srgbClr val="3C3C3C"/>
                          </a:solidFill>
                          <a:latin typeface="Arial"/>
                        </a:rPr>
                        <a:t>18.5%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